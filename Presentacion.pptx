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10" d="100"/>
          <a:sy n="110" d="100"/>
        </p:scale>
        <p:origin x="63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74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EAB7-EBB9-6D46-8D08-0062C5298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DA05B-4749-627E-E117-511A5CB4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FB30B-3719-D711-6D68-40A8E41D6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CA06F-7988-C2B9-1673-03BA96553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12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2700">
            <a:solidFill>
              <a:srgbClr val="D8E6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10528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Marco Rivera | Dinero a la vista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146"/>
          </a:solidFill>
          <a:ln w="12700">
            <a:solidFill>
              <a:srgbClr val="0721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228600"/>
            <a:ext cx="3108960" cy="3108960"/>
          </a:xfrm>
          <a:prstGeom prst="arc">
            <a:avLst/>
          </a:prstGeom>
          <a:noFill/>
          <a:ln w="38100">
            <a:solidFill>
              <a:srgbClr val="1464F4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3749040"/>
            <a:ext cx="2194560" cy="2194560"/>
          </a:xfrm>
          <a:prstGeom prst="arc">
            <a:avLst/>
          </a:prstGeom>
          <a:noFill/>
          <a:ln w="38100">
            <a:solidFill>
              <a:srgbClr val="7CC7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BBVA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Dinero a la vista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proyección bancaria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" y="3063240"/>
            <a:ext cx="7799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DCEEFF"/>
                </a:solidFill>
              </a:rPr>
              <a:t>Comportamiento</a:t>
            </a:r>
            <a:r>
              <a:rPr lang="en-US" sz="1500" dirty="0">
                <a:solidFill>
                  <a:srgbClr val="DCEEFF"/>
                </a:solidFill>
              </a:rPr>
              <a:t> histórico, posición competitiva G7 y </a:t>
            </a:r>
            <a:r>
              <a:rPr lang="en-US" sz="1500" dirty="0" err="1">
                <a:solidFill>
                  <a:srgbClr val="DCEEFF"/>
                </a:solidFill>
              </a:rPr>
              <a:t>pronóstico</a:t>
            </a:r>
            <a:r>
              <a:rPr lang="en-US" sz="1500" dirty="0">
                <a:solidFill>
                  <a:srgbClr val="DCEEFF"/>
                </a:solidFill>
              </a:rPr>
              <a:t> a 3 </a:t>
            </a:r>
            <a:r>
              <a:rPr lang="en-US" sz="1500" dirty="0" err="1">
                <a:solidFill>
                  <a:srgbClr val="DCEEFF"/>
                </a:solidFill>
              </a:rPr>
              <a:t>años</a:t>
            </a:r>
            <a:r>
              <a:rPr lang="en-US" sz="1500" dirty="0">
                <a:solidFill>
                  <a:srgbClr val="DCEEFF"/>
                </a:solidFill>
              </a:rPr>
              <a:t>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5989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7F0"/>
                </a:solidFill>
              </a:rPr>
              <a:t>Marco Rivera 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721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Responder cómo se ha comportado BBVA, cómo se compara frente al G7 y qué se espera para los próximos 3 años.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960120" cy="4572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62763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Desempeño histórico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1938528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 err="1">
                <a:solidFill>
                  <a:srgbClr val="334155"/>
                </a:solidFill>
              </a:rPr>
              <a:t>Evolución</a:t>
            </a:r>
            <a:r>
              <a:rPr lang="en-US" sz="1050" dirty="0">
                <a:solidFill>
                  <a:srgbClr val="334155"/>
                </a:solidFill>
              </a:rPr>
              <a:t> del dinero a la vista de BBVA con la </a:t>
            </a:r>
            <a:r>
              <a:rPr lang="en-US" sz="1050" dirty="0" err="1">
                <a:solidFill>
                  <a:srgbClr val="334155"/>
                </a:solidFill>
              </a:rPr>
              <a:t>serie</a:t>
            </a:r>
            <a:r>
              <a:rPr lang="en-US" sz="1050" dirty="0">
                <a:solidFill>
                  <a:srgbClr val="334155"/>
                </a:solidFill>
              </a:rPr>
              <a:t> </a:t>
            </a:r>
            <a:r>
              <a:rPr lang="en-US" sz="1050" dirty="0" err="1">
                <a:solidFill>
                  <a:srgbClr val="334155"/>
                </a:solidFill>
              </a:rPr>
              <a:t>mensual</a:t>
            </a:r>
            <a:r>
              <a:rPr lang="en-US" sz="1050" dirty="0">
                <a:solidFill>
                  <a:srgbClr val="334155"/>
                </a:solidFill>
              </a:rPr>
              <a:t>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4630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162763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Posición competitiva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27448" y="1938528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Comparación frente a Banamex, Santander, HSBC, Inbursa, Scotiabank y Banorte.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75320" y="146304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76488" y="1627632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Proyección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76488" y="1938528"/>
            <a:ext cx="2752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 err="1">
                <a:solidFill>
                  <a:srgbClr val="334155"/>
                </a:solidFill>
              </a:rPr>
              <a:t>Pronóstico</a:t>
            </a:r>
            <a:r>
              <a:rPr lang="en-US" sz="1050" dirty="0">
                <a:solidFill>
                  <a:srgbClr val="334155"/>
                </a:solidFill>
              </a:rPr>
              <a:t> de la </a:t>
            </a:r>
            <a:r>
              <a:rPr lang="en-US" sz="1050" dirty="0" err="1">
                <a:solidFill>
                  <a:srgbClr val="334155"/>
                </a:solidFill>
              </a:rPr>
              <a:t>serie</a:t>
            </a:r>
            <a:r>
              <a:rPr lang="en-US" sz="1050" dirty="0">
                <a:solidFill>
                  <a:srgbClr val="334155"/>
                </a:solidFill>
              </a:rPr>
              <a:t> a 3 </a:t>
            </a:r>
            <a:r>
              <a:rPr lang="en-US" sz="1050" dirty="0" err="1">
                <a:solidFill>
                  <a:srgbClr val="334155"/>
                </a:solidFill>
              </a:rPr>
              <a:t>años</a:t>
            </a:r>
            <a:r>
              <a:rPr lang="en-US" sz="1050" dirty="0">
                <a:solidFill>
                  <a:srgbClr val="334155"/>
                </a:solidFill>
              </a:rPr>
              <a:t> </a:t>
            </a:r>
            <a:r>
              <a:rPr lang="en-US" sz="1050" dirty="0" err="1">
                <a:solidFill>
                  <a:srgbClr val="334155"/>
                </a:solidFill>
              </a:rPr>
              <a:t>mediante</a:t>
            </a:r>
            <a:r>
              <a:rPr lang="en-US" sz="1050" dirty="0">
                <a:solidFill>
                  <a:srgbClr val="334155"/>
                </a:solidFill>
              </a:rPr>
              <a:t> modelos SARIMA por banco.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FAE"/>
                </a:solidFill>
              </a:rPr>
              <a:t>Idea principal: convertir historia + comparación + pronóstico en decisiones sobre crecimiento, retención, participación y posicionamiento competitivo.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45720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Bancos G7 considerados: Banamex, BBVA, Santander, HSBC, Inbursa, Scotiabank y Banorte.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21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 utilizada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El código carga datos, prepara series mensuales, ajusta modelos SARIMA fijos y genera indicadores ejecutivos.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960120" cy="4572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20240"/>
            <a:ext cx="420624" cy="420624"/>
          </a:xfrm>
          <a:prstGeom prst="ellipse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2996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72768" y="19933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146"/>
                </a:solidFill>
              </a:rPr>
              <a:t>Carga y limpieza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73552" y="2093976"/>
            <a:ext cx="320040" cy="164592"/>
          </a:xfrm>
          <a:prstGeom prst="rightArrow">
            <a:avLst/>
          </a:prstGeom>
          <a:solidFill>
            <a:srgbClr val="BBDFFF"/>
          </a:solidFill>
          <a:ln w="12700">
            <a:solidFill>
              <a:srgbClr val="BBD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6459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1920240"/>
            <a:ext cx="420624" cy="420624"/>
          </a:xfrm>
          <a:prstGeom prst="ellipse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02996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07408" y="19933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146"/>
                </a:solidFill>
              </a:rPr>
              <a:t>Series por banco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08192" y="2093976"/>
            <a:ext cx="320040" cy="164592"/>
          </a:xfrm>
          <a:prstGeom prst="rightArrow">
            <a:avLst/>
          </a:prstGeom>
          <a:solidFill>
            <a:srgbClr val="BBDFFF"/>
          </a:solidFill>
          <a:ln w="12700">
            <a:solidFill>
              <a:srgbClr val="BBD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6459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920240"/>
            <a:ext cx="420624" cy="420624"/>
          </a:xfrm>
          <a:prstGeom prst="ellipse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02996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42048" y="19933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146"/>
                </a:solidFill>
              </a:rPr>
              <a:t>SARIMA 3 </a:t>
            </a:r>
            <a:r>
              <a:rPr lang="en-US" sz="1300" b="1" dirty="0" err="1">
                <a:solidFill>
                  <a:srgbClr val="072146"/>
                </a:solidFill>
              </a:rPr>
              <a:t>años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42832" y="2093976"/>
            <a:ext cx="320040" cy="164592"/>
          </a:xfrm>
          <a:prstGeom prst="rightArrow">
            <a:avLst/>
          </a:prstGeom>
          <a:solidFill>
            <a:srgbClr val="BBDFFF"/>
          </a:solidFill>
          <a:ln w="12700">
            <a:solidFill>
              <a:srgbClr val="BBD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16459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1920240"/>
            <a:ext cx="420624" cy="420624"/>
          </a:xfrm>
          <a:prstGeom prst="ellipse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202996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76688" y="19933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2146"/>
                </a:solidFill>
              </a:rPr>
              <a:t>Ranking y participación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" y="370332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3867912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Lectura metodológica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61288" y="4178808"/>
            <a:ext cx="4489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Los pronósticos representan escenarios estadísticos basados en la continuidad de </a:t>
            </a:r>
            <a:r>
              <a:rPr lang="en-US" sz="1050" dirty="0" err="1">
                <a:solidFill>
                  <a:srgbClr val="334155"/>
                </a:solidFill>
              </a:rPr>
              <a:t>patrones</a:t>
            </a:r>
            <a:r>
              <a:rPr lang="en-US" sz="1050" dirty="0">
                <a:solidFill>
                  <a:srgbClr val="334155"/>
                </a:solidFill>
              </a:rPr>
              <a:t> </a:t>
            </a:r>
            <a:r>
              <a:rPr lang="en-US" sz="1050" dirty="0" err="1">
                <a:solidFill>
                  <a:srgbClr val="334155"/>
                </a:solidFill>
              </a:rPr>
              <a:t>históricos</a:t>
            </a:r>
            <a:r>
              <a:rPr lang="en-US" sz="1050" dirty="0">
                <a:solidFill>
                  <a:srgbClr val="334155"/>
                </a:solidFill>
              </a:rPr>
              <a:t>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3703320"/>
            <a:ext cx="489204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3867912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Salida del dashboard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56248" y="4178808"/>
            <a:ext cx="4489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Indicadores clave: dinero actual, pronóstico, variación esperada, ranking y participación actual/proyectada.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21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 BBVA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BBVA lidera la captación actual y mantendría el primer lugar bajo el escenario proyectado.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960120" cy="4572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54864" cy="114300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544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ACTUAL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" y="1801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$1.5 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2688" y="22402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Captación a la vista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417320"/>
            <a:ext cx="54864" cy="114300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5544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PRONÓSTICO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38728" y="1801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$1.9 M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538728" y="22402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A 3 </a:t>
            </a:r>
            <a:r>
              <a:rPr lang="en-US" sz="880" dirty="0" err="1">
                <a:solidFill>
                  <a:srgbClr val="334155"/>
                </a:solidFill>
              </a:rPr>
              <a:t>años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94360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417320"/>
            <a:ext cx="54864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5544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VARIACIÓN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44768" y="1801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26.12%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144768" y="22402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Cambio esperado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549640" y="141732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9640" y="1417320"/>
            <a:ext cx="54864" cy="114300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50808" y="15544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RANKING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750808" y="1801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1 / 7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750808" y="22402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Actual y proyectado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1828800" y="32461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3246120"/>
            <a:ext cx="54864" cy="114300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29968" y="33832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PART. ACTUAL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29968" y="3630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34.66%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029968" y="4069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Dentro del G7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800600" y="32461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246120"/>
            <a:ext cx="54864" cy="114300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1768" y="33832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PART. 3 AÑOS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01768" y="3630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38.67%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5001768" y="4069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Proyectada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772400" y="32461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3246120"/>
            <a:ext cx="54864" cy="1143000"/>
          </a:xfrm>
          <a:prstGeom prst="rect">
            <a:avLst/>
          </a:prstGeom>
          <a:solidFill>
            <a:srgbClr val="7CC7FF"/>
          </a:solidFill>
          <a:ln w="12700">
            <a:solidFill>
              <a:srgbClr val="7CC7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33832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HORIZONTE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973568" y="3630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36 meses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7973568" y="4069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Planeación ejecutiva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1005840" y="5257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FAE"/>
                </a:solidFill>
              </a:rPr>
              <a:t>Mensaje clave: liderazgo actual + crecimiento esperado + mayor participación proyectada.</a:t>
            </a:r>
            <a:endParaRPr lang="en-US" sz="17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21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Posición competitiva actual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BBVA ocupa el primer lugar dentro de los bancos G7 </a:t>
            </a:r>
            <a:r>
              <a:rPr lang="en-US" sz="1050" dirty="0" err="1">
                <a:solidFill>
                  <a:srgbClr val="64748B"/>
                </a:solidFill>
              </a:rPr>
              <a:t>por</a:t>
            </a:r>
            <a:r>
              <a:rPr lang="en-US" sz="1050" dirty="0">
                <a:solidFill>
                  <a:srgbClr val="64748B"/>
                </a:solidFill>
              </a:rPr>
              <a:t> dinero a la vista actual.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960120" cy="4572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60350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pic>
        <p:nvPicPr>
          <p:cNvPr id="6" name="Image 0" descr="/mnt/data/ppt_assets/ranking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594360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5544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24928" y="171907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Liderazgo claro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24928" y="20299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BBVA registra $1.5 M en el último dato observado y concentra 34.66% del grupo G7.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0" y="28346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24928" y="299923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Brecha frente al segundo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24928" y="331012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Banorte es el segundo banco con $0.7 M, por debajo del nivel observado en BBVA.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23760" y="41148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24928" y="427939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Decisión sugerida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24928" y="459028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Proteger saldos y vinculación con acciones de retención, servicio y productos de captación.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21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Crecimiento esperado a 3 años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BBVA mantiene una trayectoria favorable; Banorte es el competidor con mayor dinamismo pronosticado.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960120" cy="4572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60350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pic>
        <p:nvPicPr>
          <p:cNvPr id="6" name="Image 0" descr="/mnt/data/ppt_assets/crecimi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594360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5544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24928" y="171907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BBVA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24928" y="202996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Crecimiento esperado de 26.12% </a:t>
            </a:r>
            <a:r>
              <a:rPr lang="en-US" sz="1050" dirty="0" err="1">
                <a:solidFill>
                  <a:srgbClr val="334155"/>
                </a:solidFill>
              </a:rPr>
              <a:t>en</a:t>
            </a:r>
            <a:r>
              <a:rPr lang="en-US" sz="1050" dirty="0">
                <a:solidFill>
                  <a:srgbClr val="334155"/>
                </a:solidFill>
              </a:rPr>
              <a:t> 3 </a:t>
            </a:r>
            <a:r>
              <a:rPr lang="en-US" sz="1050" dirty="0" err="1">
                <a:solidFill>
                  <a:srgbClr val="334155"/>
                </a:solidFill>
              </a:rPr>
              <a:t>años</a:t>
            </a:r>
            <a:r>
              <a:rPr lang="en-US" sz="1050" dirty="0">
                <a:solidFill>
                  <a:srgbClr val="334155"/>
                </a:solidFill>
              </a:rPr>
              <a:t>, con permanencia en el primer lugar.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0" y="28346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24928" y="299923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Competidor a monitorear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24928" y="331012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Banorte presenta la mayor tasa de crecimiento pronosticada: 26.51%.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23760" y="41148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24928" y="427939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Riesgo relativo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24928" y="459028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Banamex muestra una caída esperada de -31.91%, reduciendo su peso en el grupo.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852C8-4354-7668-301D-5BC0E7944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3FDF9-941D-7F1A-D7EF-C3F1CCDFFE2A}"/>
              </a:ext>
            </a:extLst>
          </p:cNvPr>
          <p:cNvSpPr/>
          <p:nvPr/>
        </p:nvSpPr>
        <p:spPr>
          <a:xfrm>
            <a:off x="548640" y="320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21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Participación dentro del G7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86556D-99DF-1F40-6909-D18425AD80C9}"/>
              </a:ext>
            </a:extLst>
          </p:cNvPr>
          <p:cNvSpPr/>
          <p:nvPr/>
        </p:nvSpPr>
        <p:spPr>
          <a:xfrm>
            <a:off x="566928" y="76809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BBVA aumentaría su peso relativo de 34.66% a 38.67% en el horizonte proyectado.</a:t>
            </a:r>
            <a:endParaRPr lang="en-US" sz="10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A53883-8826-AEAD-36F3-F155061AB568}"/>
              </a:ext>
            </a:extLst>
          </p:cNvPr>
          <p:cNvSpPr/>
          <p:nvPr/>
        </p:nvSpPr>
        <p:spPr>
          <a:xfrm>
            <a:off x="548640" y="1078992"/>
            <a:ext cx="960120" cy="4572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4B8F143-E9B4-F8A9-86CB-870C0DFD6E37}"/>
              </a:ext>
            </a:extLst>
          </p:cNvPr>
          <p:cNvSpPr/>
          <p:nvPr/>
        </p:nvSpPr>
        <p:spPr>
          <a:xfrm>
            <a:off x="1280160" y="4572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C42CE72-13F0-2B5E-F941-0E0FA4D508CD}"/>
              </a:ext>
            </a:extLst>
          </p:cNvPr>
          <p:cNvSpPr/>
          <p:nvPr/>
        </p:nvSpPr>
        <p:spPr>
          <a:xfrm>
            <a:off x="1280160" y="4572000"/>
            <a:ext cx="54864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C8532A0-002E-C7A0-D949-8C20D79209CD}"/>
              </a:ext>
            </a:extLst>
          </p:cNvPr>
          <p:cNvSpPr/>
          <p:nvPr/>
        </p:nvSpPr>
        <p:spPr>
          <a:xfrm>
            <a:off x="1481328" y="4709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CAMBIO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B57D9AB-6773-CE83-B3AD-B7B18E2AFD26}"/>
              </a:ext>
            </a:extLst>
          </p:cNvPr>
          <p:cNvSpPr/>
          <p:nvPr/>
        </p:nvSpPr>
        <p:spPr>
          <a:xfrm>
            <a:off x="1481328" y="4956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+4.01 pp</a:t>
            </a:r>
            <a:endParaRPr lang="en-US" sz="2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6741542-F94B-36CA-DEED-C116E4902C62}"/>
              </a:ext>
            </a:extLst>
          </p:cNvPr>
          <p:cNvSpPr/>
          <p:nvPr/>
        </p:nvSpPr>
        <p:spPr>
          <a:xfrm>
            <a:off x="1481328" y="5394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Participación BBVA</a:t>
            </a:r>
            <a:endParaRPr lang="en-US" sz="88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1962904-1F2E-8FAF-DEB8-F897756D4A7C}"/>
              </a:ext>
            </a:extLst>
          </p:cNvPr>
          <p:cNvSpPr/>
          <p:nvPr/>
        </p:nvSpPr>
        <p:spPr>
          <a:xfrm>
            <a:off x="4709160" y="4572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E418F8E-CD2C-6F57-3441-768E09F6A6FD}"/>
              </a:ext>
            </a:extLst>
          </p:cNvPr>
          <p:cNvSpPr/>
          <p:nvPr/>
        </p:nvSpPr>
        <p:spPr>
          <a:xfrm>
            <a:off x="4709160" y="4572000"/>
            <a:ext cx="54864" cy="114300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1C76F60-795B-68F6-F77E-0EA765F0EE49}"/>
              </a:ext>
            </a:extLst>
          </p:cNvPr>
          <p:cNvSpPr/>
          <p:nvPr/>
        </p:nvSpPr>
        <p:spPr>
          <a:xfrm>
            <a:off x="4910328" y="4709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ACTUAL</a:t>
            </a:r>
            <a:endParaRPr lang="en-US" sz="8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904308B-8C42-006D-9580-5DDBD542E07D}"/>
              </a:ext>
            </a:extLst>
          </p:cNvPr>
          <p:cNvSpPr/>
          <p:nvPr/>
        </p:nvSpPr>
        <p:spPr>
          <a:xfrm>
            <a:off x="4910328" y="4956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34.66%</a:t>
            </a:r>
            <a:endParaRPr lang="en-US" sz="2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883B5A1-A967-A948-90E9-7B3A4566AD66}"/>
              </a:ext>
            </a:extLst>
          </p:cNvPr>
          <p:cNvSpPr/>
          <p:nvPr/>
        </p:nvSpPr>
        <p:spPr>
          <a:xfrm>
            <a:off x="4910328" y="5394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Dentro del G7</a:t>
            </a:r>
            <a:endParaRPr lang="en-US" sz="88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9B1369B0-A246-6D11-3D76-61F2BD8012EF}"/>
              </a:ext>
            </a:extLst>
          </p:cNvPr>
          <p:cNvSpPr/>
          <p:nvPr/>
        </p:nvSpPr>
        <p:spPr>
          <a:xfrm>
            <a:off x="8138160" y="45720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ACF5E748-9112-53EF-5B7A-C43523756573}"/>
              </a:ext>
            </a:extLst>
          </p:cNvPr>
          <p:cNvSpPr/>
          <p:nvPr/>
        </p:nvSpPr>
        <p:spPr>
          <a:xfrm>
            <a:off x="8138160" y="4572000"/>
            <a:ext cx="54864" cy="114300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11E4AA6-E048-EEFF-9320-6554D506E994}"/>
              </a:ext>
            </a:extLst>
          </p:cNvPr>
          <p:cNvSpPr/>
          <p:nvPr/>
        </p:nvSpPr>
        <p:spPr>
          <a:xfrm>
            <a:off x="8339328" y="4709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PROYECTADA</a:t>
            </a:r>
            <a:endParaRPr lang="en-US" sz="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B4A90DD-3C1C-DE11-9825-24F6B447EBC9}"/>
              </a:ext>
            </a:extLst>
          </p:cNvPr>
          <p:cNvSpPr/>
          <p:nvPr/>
        </p:nvSpPr>
        <p:spPr>
          <a:xfrm>
            <a:off x="8339328" y="4956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38.67%</a:t>
            </a:r>
            <a:endParaRPr lang="en-US" sz="21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BA7F11A-60A6-80F2-F640-B8073B29FA5F}"/>
              </a:ext>
            </a:extLst>
          </p:cNvPr>
          <p:cNvSpPr/>
          <p:nvPr/>
        </p:nvSpPr>
        <p:spPr>
          <a:xfrm>
            <a:off x="8339328" y="5394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A 3 </a:t>
            </a:r>
            <a:r>
              <a:rPr lang="en-US" sz="880" dirty="0" err="1">
                <a:solidFill>
                  <a:srgbClr val="334155"/>
                </a:solidFill>
              </a:rPr>
              <a:t>años</a:t>
            </a:r>
            <a:endParaRPr lang="en-US" sz="88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C7584B3-C150-29EE-AEB5-42B0207260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0C1612A0-D64D-3C6E-67F6-DD546317F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348391"/>
            <a:ext cx="7772400" cy="300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08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21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individual de BBVA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El dashboard permite aislar BBVA para revisar histórico, pronóstico central e intervalo de confianza.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960120" cy="4572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23760" y="16002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24928" y="176479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Vista por banco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24928" y="207568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Permite consultar exclusivamente el comportamiento histórico y pronosticado de cada institución.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0" y="28803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24928" y="304495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Implicación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24928" y="335584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La trayectoria esperada de BBVA es favorable y sostiene su liderazgo en el horizonte analizado.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23760" y="41605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24928" y="432511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FAE"/>
                </a:solidFill>
              </a:rPr>
              <a:t>Precaución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24928" y="4636008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Debe actualizarse periódicamente con cada cierre para detectar cambios de tendencia.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D818DAD-199B-621E-836F-87C9C407F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902221"/>
            <a:ext cx="6446520" cy="29072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721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Recomendaciones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Acciones sugeridas para traducir el tablero en seguimiento comercial y competitivo.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960120" cy="4572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728216"/>
            <a:ext cx="438912" cy="438912"/>
          </a:xfrm>
          <a:prstGeom prst="ellipse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37944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146"/>
                </a:solidFill>
              </a:rPr>
              <a:t>Defender liderazgo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0116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Fortalecer retención, servicio y productos de captación para sostener el lugar 1.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728216"/>
            <a:ext cx="438912" cy="438912"/>
          </a:xfrm>
          <a:prstGeom prst="ellipse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837944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146"/>
                </a:solidFill>
              </a:rPr>
              <a:t>Monitorear Banorte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20116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Dar seguimiento al competidor con mayor tasa de crecimiento pronosticada.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24612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557016"/>
            <a:ext cx="438912" cy="438912"/>
          </a:xfrm>
          <a:prstGeom prst="ellipse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666744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3493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146"/>
                </a:solidFill>
              </a:rPr>
              <a:t>Actualizar escenarios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8404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Reestimar el modelo con cada nuevo cierre para detectar cambios en ranking o participación.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324612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3557016"/>
            <a:ext cx="438912" cy="438912"/>
          </a:xfrm>
          <a:prstGeom prst="ellipse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666744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3493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2146"/>
                </a:solidFill>
              </a:rPr>
              <a:t>Convertir en gestión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38404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Definir alertas, metas internas y planes comerciales por segmento o cartera.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FAE"/>
                </a:solidFill>
              </a:rPr>
              <a:t>El tablero no solo reporta la posición de BBVA: permite anticipar, priorizar y monitorear decisiones comerciales.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21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y lectura final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La combinación de historia, ranking y pronóstico ayuda a sostener decisiones ejecutivas de crecimiento y retención.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960120" cy="4572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7442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FAE"/>
                </a:solidFill>
              </a:rPr>
              <a:t>Conclusión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BBVA es el líder actual dentro de los bancos G7 y el modelo sugiere que conservaría esa posición a 3 </a:t>
            </a:r>
            <a:r>
              <a:rPr lang="en-US" sz="1600" dirty="0" err="1">
                <a:solidFill>
                  <a:srgbClr val="334155"/>
                </a:solidFill>
              </a:rPr>
              <a:t>años</a:t>
            </a:r>
            <a:r>
              <a:rPr lang="en-US" sz="1600" dirty="0">
                <a:solidFill>
                  <a:srgbClr val="334155"/>
                </a:solidFill>
              </a:rPr>
              <a:t>. La participación proyectada aumenta de 34.66% a 38.67%, lo que convierte al dashboard en una herramienta útil para seguimiento competitivo, estrategia comercial y planeación ejecutiva.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466344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663440"/>
            <a:ext cx="54864" cy="114300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LÍDER ACTUAL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98448" y="5047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BBVA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98448" y="54864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Lugar 1 de 7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749040" y="466344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4663440"/>
            <a:ext cx="54864" cy="114300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0208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LÍDER PROYECTADO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50208" y="5047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BBVA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950208" y="54864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A 3 </a:t>
            </a:r>
            <a:r>
              <a:rPr lang="en-US" sz="880" dirty="0" err="1">
                <a:solidFill>
                  <a:srgbClr val="334155"/>
                </a:solidFill>
              </a:rPr>
              <a:t>años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400800" y="466344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663440"/>
            <a:ext cx="54864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CRECIMIENTO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01968" y="5047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26.12%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601968" y="54864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Escenario central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052560" y="466344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4663440"/>
            <a:ext cx="54864" cy="1143000"/>
          </a:xfrm>
          <a:prstGeom prst="rect">
            <a:avLst/>
          </a:prstGeom>
          <a:solidFill>
            <a:srgbClr val="1464F4"/>
          </a:solidFill>
          <a:ln w="12700">
            <a:solidFill>
              <a:srgbClr val="1464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53728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PARTICIPACIÓN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253728" y="5047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72146"/>
                </a:solidFill>
              </a:rPr>
              <a:t>38.67%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253728" y="54864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Proyectada</a:t>
            </a:r>
            <a:endParaRPr lang="en-US" sz="88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746</Words>
  <Application>Microsoft Macintosh PowerPoint</Application>
  <PresentationFormat>Panorámica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Marcko Rivera</cp:lastModifiedBy>
  <cp:revision>5</cp:revision>
  <dcterms:created xsi:type="dcterms:W3CDTF">2026-08-04T02:12:21Z</dcterms:created>
  <dcterms:modified xsi:type="dcterms:W3CDTF">2026-08-04T02:33:26Z</dcterms:modified>
</cp:coreProperties>
</file>